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6" r:id="rId2"/>
    <p:sldId id="257" r:id="rId3"/>
    <p:sldId id="258" r:id="rId4"/>
    <p:sldId id="324" r:id="rId5"/>
    <p:sldId id="325" r:id="rId6"/>
    <p:sldId id="299" r:id="rId7"/>
    <p:sldId id="298" r:id="rId8"/>
    <p:sldId id="301" r:id="rId9"/>
    <p:sldId id="300" r:id="rId10"/>
    <p:sldId id="262" r:id="rId11"/>
    <p:sldId id="302" r:id="rId12"/>
    <p:sldId id="263" r:id="rId13"/>
    <p:sldId id="303" r:id="rId14"/>
    <p:sldId id="305" r:id="rId15"/>
    <p:sldId id="304" r:id="rId16"/>
    <p:sldId id="288" r:id="rId17"/>
    <p:sldId id="291" r:id="rId18"/>
    <p:sldId id="306" r:id="rId19"/>
    <p:sldId id="294" r:id="rId20"/>
    <p:sldId id="308" r:id="rId21"/>
    <p:sldId id="307" r:id="rId22"/>
    <p:sldId id="278" r:id="rId23"/>
    <p:sldId id="289" r:id="rId24"/>
    <p:sldId id="327" r:id="rId25"/>
    <p:sldId id="326" r:id="rId26"/>
    <p:sldId id="330" r:id="rId27"/>
    <p:sldId id="328" r:id="rId28"/>
    <p:sldId id="318" r:id="rId29"/>
    <p:sldId id="321" r:id="rId30"/>
    <p:sldId id="317" r:id="rId31"/>
    <p:sldId id="319" r:id="rId32"/>
    <p:sldId id="329" r:id="rId33"/>
    <p:sldId id="2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B04727-7313-42C8-B994-6992C4261C59}" v="20" dt="2026-05-06T02:59:58.7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ant Khanal" userId="5da5e0d97e7727e4" providerId="LiveId" clId="{32C2DEDD-6D3C-4AF3-9919-0CB19B94C87D}"/>
    <pc:docChg chg="undo custSel addSld delSld modSld sldOrd">
      <pc:chgData name="Sushant Khanal" userId="5da5e0d97e7727e4" providerId="LiveId" clId="{32C2DEDD-6D3C-4AF3-9919-0CB19B94C87D}" dt="2026-05-06T03:01:53.477" v="2618" actId="47"/>
      <pc:docMkLst>
        <pc:docMk/>
      </pc:docMkLst>
      <pc:sldChg chg="addSp modSp mod modAnim">
        <pc:chgData name="Sushant Khanal" userId="5da5e0d97e7727e4" providerId="LiveId" clId="{32C2DEDD-6D3C-4AF3-9919-0CB19B94C87D}" dt="2026-05-06T02:54:43.144" v="2570"/>
        <pc:sldMkLst>
          <pc:docMk/>
          <pc:sldMk cId="239603738" sldId="262"/>
        </pc:sldMkLst>
        <pc:spChg chg="add mod">
          <ac:chgData name="Sushant Khanal" userId="5da5e0d97e7727e4" providerId="LiveId" clId="{32C2DEDD-6D3C-4AF3-9919-0CB19B94C87D}" dt="2026-05-06T02:54:31.775" v="2569" actId="1076"/>
          <ac:spMkLst>
            <pc:docMk/>
            <pc:sldMk cId="239603738" sldId="262"/>
            <ac:spMk id="4" creationId="{121C7493-242A-3353-4510-DA0BEBF8D9C8}"/>
          </ac:spMkLst>
        </pc:spChg>
      </pc:sldChg>
      <pc:sldChg chg="del">
        <pc:chgData name="Sushant Khanal" userId="5da5e0d97e7727e4" providerId="LiveId" clId="{32C2DEDD-6D3C-4AF3-9919-0CB19B94C87D}" dt="2026-05-06T03:00:05.908" v="2609" actId="47"/>
        <pc:sldMkLst>
          <pc:docMk/>
          <pc:sldMk cId="4063450420" sldId="280"/>
        </pc:sldMkLst>
      </pc:sldChg>
      <pc:sldChg chg="del">
        <pc:chgData name="Sushant Khanal" userId="5da5e0d97e7727e4" providerId="LiveId" clId="{32C2DEDD-6D3C-4AF3-9919-0CB19B94C87D}" dt="2026-05-06T02:58:20.916" v="2589" actId="47"/>
        <pc:sldMkLst>
          <pc:docMk/>
          <pc:sldMk cId="1414011243" sldId="281"/>
        </pc:sldMkLst>
      </pc:sldChg>
      <pc:sldChg chg="add del">
        <pc:chgData name="Sushant Khanal" userId="5da5e0d97e7727e4" providerId="LiveId" clId="{32C2DEDD-6D3C-4AF3-9919-0CB19B94C87D}" dt="2026-05-06T03:01:39.277" v="2617" actId="47"/>
        <pc:sldMkLst>
          <pc:docMk/>
          <pc:sldMk cId="3989006650" sldId="286"/>
        </pc:sldMkLst>
      </pc:sldChg>
      <pc:sldChg chg="addSp delSp modSp mod delAnim modAnim">
        <pc:chgData name="Sushant Khanal" userId="5da5e0d97e7727e4" providerId="LiveId" clId="{32C2DEDD-6D3C-4AF3-9919-0CB19B94C87D}" dt="2026-05-06T02:53:13.955" v="2565"/>
        <pc:sldMkLst>
          <pc:docMk/>
          <pc:sldMk cId="960943656" sldId="298"/>
        </pc:sldMkLst>
        <pc:graphicFrameChg chg="del">
          <ac:chgData name="Sushant Khanal" userId="5da5e0d97e7727e4" providerId="LiveId" clId="{32C2DEDD-6D3C-4AF3-9919-0CB19B94C87D}" dt="2026-05-06T02:51:58.727" v="2556" actId="478"/>
          <ac:graphicFrameMkLst>
            <pc:docMk/>
            <pc:sldMk cId="960943656" sldId="298"/>
            <ac:graphicFrameMk id="2" creationId="{C1BDD388-750B-F378-2A70-391D8061C9AA}"/>
          </ac:graphicFrameMkLst>
        </pc:graphicFrameChg>
        <pc:graphicFrameChg chg="add mod">
          <ac:chgData name="Sushant Khanal" userId="5da5e0d97e7727e4" providerId="LiveId" clId="{32C2DEDD-6D3C-4AF3-9919-0CB19B94C87D}" dt="2026-05-06T02:52:56.356" v="2564"/>
          <ac:graphicFrameMkLst>
            <pc:docMk/>
            <pc:sldMk cId="960943656" sldId="298"/>
            <ac:graphicFrameMk id="3" creationId="{FA500F03-F997-AAB3-D3CA-6E84A2C8C43E}"/>
          </ac:graphicFrameMkLst>
        </pc:graphicFrameChg>
      </pc:sldChg>
      <pc:sldChg chg="addSp delSp modSp mod modAnim">
        <pc:chgData name="Sushant Khanal" userId="5da5e0d97e7727e4" providerId="LiveId" clId="{32C2DEDD-6D3C-4AF3-9919-0CB19B94C87D}" dt="2026-05-06T02:55:46.472" v="2574"/>
        <pc:sldMkLst>
          <pc:docMk/>
          <pc:sldMk cId="1913178576" sldId="302"/>
        </pc:sldMkLst>
        <pc:spChg chg="del mod">
          <ac:chgData name="Sushant Khanal" userId="5da5e0d97e7727e4" providerId="LiveId" clId="{32C2DEDD-6D3C-4AF3-9919-0CB19B94C87D}" dt="2026-05-06T02:55:27.928" v="2572" actId="478"/>
          <ac:spMkLst>
            <pc:docMk/>
            <pc:sldMk cId="1913178576" sldId="302"/>
            <ac:spMk id="5" creationId="{089CC07D-7F6D-6417-FCF1-F3F79E2B190B}"/>
          </ac:spMkLst>
        </pc:spChg>
        <pc:graphicFrameChg chg="add mod">
          <ac:chgData name="Sushant Khanal" userId="5da5e0d97e7727e4" providerId="LiveId" clId="{32C2DEDD-6D3C-4AF3-9919-0CB19B94C87D}" dt="2026-05-06T02:55:40.172" v="2573"/>
          <ac:graphicFrameMkLst>
            <pc:docMk/>
            <pc:sldMk cId="1913178576" sldId="302"/>
            <ac:graphicFrameMk id="4" creationId="{161CF11D-15A5-E7CB-200B-08D4330FB7CC}"/>
          </ac:graphicFrameMkLst>
        </pc:graphicFrameChg>
      </pc:sldChg>
      <pc:sldChg chg="ord">
        <pc:chgData name="Sushant Khanal" userId="5da5e0d97e7727e4" providerId="LiveId" clId="{32C2DEDD-6D3C-4AF3-9919-0CB19B94C87D}" dt="2026-05-06T03:00:52.035" v="2613"/>
        <pc:sldMkLst>
          <pc:docMk/>
          <pc:sldMk cId="1643798240" sldId="318"/>
        </pc:sldMkLst>
      </pc:sldChg>
      <pc:sldChg chg="modSp mod">
        <pc:chgData name="Sushant Khanal" userId="5da5e0d97e7727e4" providerId="LiveId" clId="{32C2DEDD-6D3C-4AF3-9919-0CB19B94C87D}" dt="2026-05-06T03:01:24.947" v="2616" actId="313"/>
        <pc:sldMkLst>
          <pc:docMk/>
          <pc:sldMk cId="770202981" sldId="319"/>
        </pc:sldMkLst>
        <pc:spChg chg="mod">
          <ac:chgData name="Sushant Khanal" userId="5da5e0d97e7727e4" providerId="LiveId" clId="{32C2DEDD-6D3C-4AF3-9919-0CB19B94C87D}" dt="2026-05-06T03:01:24.947" v="2616" actId="313"/>
          <ac:spMkLst>
            <pc:docMk/>
            <pc:sldMk cId="770202981" sldId="319"/>
            <ac:spMk id="6" creationId="{9112F9C1-AF24-5409-D8AD-7F7AC721BC96}"/>
          </ac:spMkLst>
        </pc:spChg>
      </pc:sldChg>
      <pc:sldChg chg="del">
        <pc:chgData name="Sushant Khanal" userId="5da5e0d97e7727e4" providerId="LiveId" clId="{32C2DEDD-6D3C-4AF3-9919-0CB19B94C87D}" dt="2026-05-06T03:00:13.398" v="2610" actId="47"/>
        <pc:sldMkLst>
          <pc:docMk/>
          <pc:sldMk cId="3330125536" sldId="320"/>
        </pc:sldMkLst>
      </pc:sldChg>
      <pc:sldChg chg="ord">
        <pc:chgData name="Sushant Khanal" userId="5da5e0d97e7727e4" providerId="LiveId" clId="{32C2DEDD-6D3C-4AF3-9919-0CB19B94C87D}" dt="2026-05-06T03:00:56.103" v="2615"/>
        <pc:sldMkLst>
          <pc:docMk/>
          <pc:sldMk cId="2639792272" sldId="321"/>
        </pc:sldMkLst>
      </pc:sldChg>
      <pc:sldChg chg="del">
        <pc:chgData name="Sushant Khanal" userId="5da5e0d97e7727e4" providerId="LiveId" clId="{32C2DEDD-6D3C-4AF3-9919-0CB19B94C87D}" dt="2026-05-06T03:01:53.477" v="2618" actId="47"/>
        <pc:sldMkLst>
          <pc:docMk/>
          <pc:sldMk cId="4197178323" sldId="323"/>
        </pc:sldMkLst>
      </pc:sldChg>
      <pc:sldChg chg="addSp delSp modSp add mod modAnim">
        <pc:chgData name="Sushant Khanal" userId="5da5e0d97e7727e4" providerId="LiveId" clId="{32C2DEDD-6D3C-4AF3-9919-0CB19B94C87D}" dt="2026-05-06T02:57:40.535" v="2585"/>
        <pc:sldMkLst>
          <pc:docMk/>
          <pc:sldMk cId="3446500652" sldId="326"/>
        </pc:sldMkLst>
        <pc:picChg chg="add mod">
          <ac:chgData name="Sushant Khanal" userId="5da5e0d97e7727e4" providerId="LiveId" clId="{32C2DEDD-6D3C-4AF3-9919-0CB19B94C87D}" dt="2026-05-06T02:56:53.071" v="2579"/>
          <ac:picMkLst>
            <pc:docMk/>
            <pc:sldMk cId="3446500652" sldId="326"/>
            <ac:picMk id="4" creationId="{DAE88922-F1AD-F0BC-240B-65AAE76AE33C}"/>
          </ac:picMkLst>
        </pc:picChg>
        <pc:picChg chg="del">
          <ac:chgData name="Sushant Khanal" userId="5da5e0d97e7727e4" providerId="LiveId" clId="{32C2DEDD-6D3C-4AF3-9919-0CB19B94C87D}" dt="2026-05-06T02:56:46.083" v="2578" actId="478"/>
          <ac:picMkLst>
            <pc:docMk/>
            <pc:sldMk cId="3446500652" sldId="326"/>
            <ac:picMk id="6" creationId="{D3D0B189-51F7-2B61-B999-5276BA40AE7E}"/>
          </ac:picMkLst>
        </pc:picChg>
      </pc:sldChg>
      <pc:sldChg chg="delSp modSp add del mod delAnim">
        <pc:chgData name="Sushant Khanal" userId="5da5e0d97e7727e4" providerId="LiveId" clId="{32C2DEDD-6D3C-4AF3-9919-0CB19B94C87D}" dt="2026-05-06T02:52:53.690" v="2563" actId="47"/>
        <pc:sldMkLst>
          <pc:docMk/>
          <pc:sldMk cId="3502843021" sldId="326"/>
        </pc:sldMkLst>
        <pc:spChg chg="del">
          <ac:chgData name="Sushant Khanal" userId="5da5e0d97e7727e4" providerId="LiveId" clId="{32C2DEDD-6D3C-4AF3-9919-0CB19B94C87D}" dt="2026-05-06T02:52:42.171" v="2561" actId="478"/>
          <ac:spMkLst>
            <pc:docMk/>
            <pc:sldMk cId="3502843021" sldId="326"/>
            <ac:spMk id="8" creationId="{FE43613F-0E81-2BCB-0EEA-B32FEA0CA897}"/>
          </ac:spMkLst>
        </pc:spChg>
        <pc:spChg chg="del mod">
          <ac:chgData name="Sushant Khanal" userId="5da5e0d97e7727e4" providerId="LiveId" clId="{32C2DEDD-6D3C-4AF3-9919-0CB19B94C87D}" dt="2026-05-06T02:52:34.844" v="2559" actId="478"/>
          <ac:spMkLst>
            <pc:docMk/>
            <pc:sldMk cId="3502843021" sldId="326"/>
            <ac:spMk id="10" creationId="{834BCDED-40FB-C76B-6BCF-38470D20BA74}"/>
          </ac:spMkLst>
        </pc:spChg>
        <pc:spChg chg="del">
          <ac:chgData name="Sushant Khanal" userId="5da5e0d97e7727e4" providerId="LiveId" clId="{32C2DEDD-6D3C-4AF3-9919-0CB19B94C87D}" dt="2026-05-06T02:52:39.493" v="2560" actId="478"/>
          <ac:spMkLst>
            <pc:docMk/>
            <pc:sldMk cId="3502843021" sldId="326"/>
            <ac:spMk id="11" creationId="{25300338-2E53-5E6B-4349-8A7A02F76D16}"/>
          </ac:spMkLst>
        </pc:spChg>
        <pc:graphicFrameChg chg="del">
          <ac:chgData name="Sushant Khanal" userId="5da5e0d97e7727e4" providerId="LiveId" clId="{32C2DEDD-6D3C-4AF3-9919-0CB19B94C87D}" dt="2026-05-06T02:52:48.500" v="2562" actId="21"/>
          <ac:graphicFrameMkLst>
            <pc:docMk/>
            <pc:sldMk cId="3502843021" sldId="326"/>
            <ac:graphicFrameMk id="2" creationId="{FA500F03-F997-AAB3-D3CA-6E84A2C8C43E}"/>
          </ac:graphicFrameMkLst>
        </pc:graphicFrameChg>
      </pc:sldChg>
      <pc:sldChg chg="addSp delSp modSp add mod delAnim modAnim">
        <pc:chgData name="Sushant Khanal" userId="5da5e0d97e7727e4" providerId="LiveId" clId="{32C2DEDD-6D3C-4AF3-9919-0CB19B94C87D}" dt="2026-05-06T02:57:37.464" v="2584"/>
        <pc:sldMkLst>
          <pc:docMk/>
          <pc:sldMk cId="3789311025" sldId="327"/>
        </pc:sldMkLst>
        <pc:picChg chg="add del mod">
          <ac:chgData name="Sushant Khanal" userId="5da5e0d97e7727e4" providerId="LiveId" clId="{32C2DEDD-6D3C-4AF3-9919-0CB19B94C87D}" dt="2026-05-06T02:57:21.175" v="2581" actId="478"/>
          <ac:picMkLst>
            <pc:docMk/>
            <pc:sldMk cId="3789311025" sldId="327"/>
            <ac:picMk id="4" creationId="{C731C165-5B2A-9288-96C9-12F81BE46734}"/>
          </ac:picMkLst>
        </pc:picChg>
        <pc:picChg chg="add mod">
          <ac:chgData name="Sushant Khanal" userId="5da5e0d97e7727e4" providerId="LiveId" clId="{32C2DEDD-6D3C-4AF3-9919-0CB19B94C87D}" dt="2026-05-06T02:57:21.975" v="2582"/>
          <ac:picMkLst>
            <pc:docMk/>
            <pc:sldMk cId="3789311025" sldId="327"/>
            <ac:picMk id="5" creationId="{2FD04AE2-73BE-F8D2-86AD-D89649168B85}"/>
          </ac:picMkLst>
        </pc:picChg>
        <pc:picChg chg="del">
          <ac:chgData name="Sushant Khanal" userId="5da5e0d97e7727e4" providerId="LiveId" clId="{32C2DEDD-6D3C-4AF3-9919-0CB19B94C87D}" dt="2026-05-06T02:56:44.213" v="2577" actId="478"/>
          <ac:picMkLst>
            <pc:docMk/>
            <pc:sldMk cId="3789311025" sldId="327"/>
            <ac:picMk id="6" creationId="{9C046076-A7E3-10F5-0C18-83128E771663}"/>
          </ac:picMkLst>
        </pc:picChg>
      </pc:sldChg>
      <pc:sldChg chg="delSp modSp add mod delAnim modAnim">
        <pc:chgData name="Sushant Khanal" userId="5da5e0d97e7727e4" providerId="LiveId" clId="{32C2DEDD-6D3C-4AF3-9919-0CB19B94C87D}" dt="2026-05-06T02:59:58.777" v="2608"/>
        <pc:sldMkLst>
          <pc:docMk/>
          <pc:sldMk cId="2150943147" sldId="328"/>
        </pc:sldMkLst>
        <pc:spChg chg="del">
          <ac:chgData name="Sushant Khanal" userId="5da5e0d97e7727e4" providerId="LiveId" clId="{32C2DEDD-6D3C-4AF3-9919-0CB19B94C87D}" dt="2026-05-06T02:59:32.269" v="2603" actId="478"/>
          <ac:spMkLst>
            <pc:docMk/>
            <pc:sldMk cId="2150943147" sldId="328"/>
            <ac:spMk id="9" creationId="{0ED4CA02-300A-BB69-AACD-ACFFDD668354}"/>
          </ac:spMkLst>
        </pc:spChg>
        <pc:spChg chg="del">
          <ac:chgData name="Sushant Khanal" userId="5da5e0d97e7727e4" providerId="LiveId" clId="{32C2DEDD-6D3C-4AF3-9919-0CB19B94C87D}" dt="2026-05-06T02:59:50.639" v="2607" actId="478"/>
          <ac:spMkLst>
            <pc:docMk/>
            <pc:sldMk cId="2150943147" sldId="328"/>
            <ac:spMk id="11" creationId="{B1CC6256-1A1F-BFE8-B8F4-348C24E93AB2}"/>
          </ac:spMkLst>
        </pc:spChg>
        <pc:spChg chg="ord">
          <ac:chgData name="Sushant Khanal" userId="5da5e0d97e7727e4" providerId="LiveId" clId="{32C2DEDD-6D3C-4AF3-9919-0CB19B94C87D}" dt="2026-05-06T02:59:46.836" v="2606" actId="167"/>
          <ac:spMkLst>
            <pc:docMk/>
            <pc:sldMk cId="2150943147" sldId="328"/>
            <ac:spMk id="12" creationId="{5E5D1E80-B8DB-BCF1-587B-B576FC4836A1}"/>
          </ac:spMkLst>
        </pc:spChg>
        <pc:spChg chg="del">
          <ac:chgData name="Sushant Khanal" userId="5da5e0d97e7727e4" providerId="LiveId" clId="{32C2DEDD-6D3C-4AF3-9919-0CB19B94C87D}" dt="2026-05-06T02:59:27.515" v="2602" actId="478"/>
          <ac:spMkLst>
            <pc:docMk/>
            <pc:sldMk cId="2150943147" sldId="328"/>
            <ac:spMk id="16" creationId="{20A1D255-C541-DB56-F972-B9E1D079C9F4}"/>
          </ac:spMkLst>
        </pc:spChg>
        <pc:spChg chg="del">
          <ac:chgData name="Sushant Khanal" userId="5da5e0d97e7727e4" providerId="LiveId" clId="{32C2DEDD-6D3C-4AF3-9919-0CB19B94C87D}" dt="2026-05-06T02:59:36.751" v="2605" actId="478"/>
          <ac:spMkLst>
            <pc:docMk/>
            <pc:sldMk cId="2150943147" sldId="328"/>
            <ac:spMk id="17" creationId="{06E92D3A-CD70-EBC0-C9D5-E666A2447334}"/>
          </ac:spMkLst>
        </pc:spChg>
        <pc:spChg chg="del">
          <ac:chgData name="Sushant Khanal" userId="5da5e0d97e7727e4" providerId="LiveId" clId="{32C2DEDD-6D3C-4AF3-9919-0CB19B94C87D}" dt="2026-05-06T02:59:34.580" v="2604" actId="478"/>
          <ac:spMkLst>
            <pc:docMk/>
            <pc:sldMk cId="2150943147" sldId="328"/>
            <ac:spMk id="18" creationId="{C83AE18E-C4FF-A855-563E-4426C19D4E7A}"/>
          </ac:spMkLst>
        </pc:spChg>
      </pc:sldChg>
      <pc:sldChg chg="add ord">
        <pc:chgData name="Sushant Khanal" userId="5da5e0d97e7727e4" providerId="LiveId" clId="{32C2DEDD-6D3C-4AF3-9919-0CB19B94C87D}" dt="2026-05-06T02:58:18.700" v="2588"/>
        <pc:sldMkLst>
          <pc:docMk/>
          <pc:sldMk cId="1392676858" sldId="329"/>
        </pc:sldMkLst>
      </pc:sldChg>
      <pc:sldChg chg="delSp modSp add mod ord delAnim modAnim">
        <pc:chgData name="Sushant Khanal" userId="5da5e0d97e7727e4" providerId="LiveId" clId="{32C2DEDD-6D3C-4AF3-9919-0CB19B94C87D}" dt="2026-05-06T02:59:18.236" v="2600"/>
        <pc:sldMkLst>
          <pc:docMk/>
          <pc:sldMk cId="2051194332" sldId="330"/>
        </pc:sldMkLst>
        <pc:spChg chg="del mod">
          <ac:chgData name="Sushant Khanal" userId="5da5e0d97e7727e4" providerId="LiveId" clId="{32C2DEDD-6D3C-4AF3-9919-0CB19B94C87D}" dt="2026-05-06T02:59:05.101" v="2596" actId="478"/>
          <ac:spMkLst>
            <pc:docMk/>
            <pc:sldMk cId="2051194332" sldId="330"/>
            <ac:spMk id="12" creationId="{E4605A65-20F5-DFD9-B007-D441F773914A}"/>
          </ac:spMkLst>
        </pc:spChg>
        <pc:spChg chg="del">
          <ac:chgData name="Sushant Khanal" userId="5da5e0d97e7727e4" providerId="LiveId" clId="{32C2DEDD-6D3C-4AF3-9919-0CB19B94C87D}" dt="2026-05-06T02:58:53.577" v="2592" actId="478"/>
          <ac:spMkLst>
            <pc:docMk/>
            <pc:sldMk cId="2051194332" sldId="330"/>
            <ac:spMk id="13" creationId="{5E942628-D1B0-DCD9-22D0-9EF22A70951A}"/>
          </ac:spMkLst>
        </pc:spChg>
        <pc:spChg chg="del">
          <ac:chgData name="Sushant Khanal" userId="5da5e0d97e7727e4" providerId="LiveId" clId="{32C2DEDD-6D3C-4AF3-9919-0CB19B94C87D}" dt="2026-05-06T02:58:51.212" v="2591" actId="478"/>
          <ac:spMkLst>
            <pc:docMk/>
            <pc:sldMk cId="2051194332" sldId="330"/>
            <ac:spMk id="16" creationId="{55EC51B1-B5DD-DD56-B623-498188A17C5E}"/>
          </ac:spMkLst>
        </pc:spChg>
        <pc:spChg chg="del">
          <ac:chgData name="Sushant Khanal" userId="5da5e0d97e7727e4" providerId="LiveId" clId="{32C2DEDD-6D3C-4AF3-9919-0CB19B94C87D}" dt="2026-05-06T02:58:58.005" v="2594" actId="478"/>
          <ac:spMkLst>
            <pc:docMk/>
            <pc:sldMk cId="2051194332" sldId="330"/>
            <ac:spMk id="17" creationId="{8454FC0D-8B42-91EE-A1A8-12775CDC53BB}"/>
          </ac:spMkLst>
        </pc:spChg>
        <pc:spChg chg="del">
          <ac:chgData name="Sushant Khanal" userId="5da5e0d97e7727e4" providerId="LiveId" clId="{32C2DEDD-6D3C-4AF3-9919-0CB19B94C87D}" dt="2026-05-06T02:58:56.137" v="2593" actId="478"/>
          <ac:spMkLst>
            <pc:docMk/>
            <pc:sldMk cId="2051194332" sldId="330"/>
            <ac:spMk id="18" creationId="{86B45DB9-F3A3-C677-3FCB-1FF2BF54EFAF}"/>
          </ac:spMkLst>
        </pc:spChg>
      </pc:sldChg>
      <pc:sldChg chg="add del">
        <pc:chgData name="Sushant Khanal" userId="5da5e0d97e7727e4" providerId="LiveId" clId="{32C2DEDD-6D3C-4AF3-9919-0CB19B94C87D}" dt="2026-05-06T03:00:48.404" v="2611" actId="47"/>
        <pc:sldMkLst>
          <pc:docMk/>
          <pc:sldMk cId="2914861350" sldId="3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8D469-A416-40D7-A632-95E2E708265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2A8C4-2DEA-4B1C-9387-6388D95D5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11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AFC3-0417-3F49-D41A-74C7CD425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04730-2723-6164-E6BA-5AE11E392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3A42D-76D0-4EC3-C873-5FFBD96E2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32382-0D35-4B18-9F4A-56B41A99D2DF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285E7-6AC0-FF27-E419-C1AD0A6B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A4294-9C7C-5E6C-9C3A-30C97FD2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3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75E0-D8F7-61A2-5693-C8BF8E8C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C029-440F-EDEE-3D48-9AB49ABD7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C1658-4A58-9413-39C2-81953BF1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42B4-5B32-4D71-A6A3-6C9DC06D5CD5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FA945-5A67-B0A0-BD7A-4264504E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E1CE0-29B7-BACD-B36F-C1F49FD1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2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AD7CF-70FD-6EDF-A5A2-4B491CA67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35BD8-2FF5-93BF-2856-C27E7D752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E6F6B-D429-C5F6-044B-8C3D8A3EF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A230-61FA-4AF0-A61B-BDF487071E90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2C841-D996-0C36-481A-06C56DF0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B8DF-CDF6-210D-577C-7D969C28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4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74FF-4368-2319-A08E-0B69AF03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7463-0704-D69B-A085-E377B36CA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7722A-C40A-4645-EE7F-1E9CC43DC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76F81-6D1B-D11F-BD62-10220DB2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0A58-0EE9-4CF9-98ED-2F1C60A7DEAB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8106E-0AE3-E570-B649-10CA10B4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2B7B4-303D-4902-8F0E-5CFFE548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9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078A-F1D8-3538-9744-F5A67215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01E72-20FB-22A8-C2F9-080D95622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76773-BED9-A718-9964-9A8D1CAB6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5A876-1396-EC94-C50E-1FFEDDCF9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21632-7945-4277-76A4-5293A0154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67844-2D98-D421-75BD-30A03CFE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21029-CE9E-4D29-9200-7C0073A6FE97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B777C4-8FAD-DA79-2481-E337735D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3C3B4-1664-D465-AA48-43673199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7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9172-3D13-F093-366D-AE11A0B5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FB21A7-D267-C94F-000D-2A364A28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33DA-B798-4A76-8E0C-A5D2187E3026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D6754-8879-0134-74C6-6AF88658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DD6B7-2CEC-9004-E7D9-FE90E0C49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1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1862A-4A52-1679-CFF0-17A0EBE93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031D9-9F0D-4D69-8247-C3FACCBDFA27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A9EBC-3DF5-6665-B2A9-928197CA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19561-98BC-BC1C-5036-5737D5CD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79F6-EA1A-D9CF-D5F4-DEE8A4B4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13CFF-88D3-97CD-CF3D-61EC710DD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0FEA1-E405-3ABD-8E7E-DE92ECC62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4BCD4-F921-1B83-8E40-C118AFDC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80388-B598-4F64-8531-F8EE2AEA7088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A4AC4-6493-6E54-F456-CF63E3C1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0447D-9CBA-ABD4-0724-50746C09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7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023C-4E63-8FA5-AC13-64342D00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44235-D860-2FC8-2C09-C27EC2E6C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CA2D6-E419-B4F6-00D4-AF199FF81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8485D-D07D-B7D4-921F-1DEF18C3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1BFB-EC93-4895-A3A2-3DA1018777D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45693-D461-DD19-3759-21B651DC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5847F-3FA6-6824-894B-324BACCE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1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F7F2-6888-2A2F-0167-BB725F77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50B65-7E30-52DB-F2DE-541209EE3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731CC-5C00-BCE9-1BC0-32834891C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E37CB-DBB8-4FF7-AC05-832C4583F1B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922DE-9BC4-8B32-7859-D93AF993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87902-DC76-7A2C-EF3B-927ECB55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9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9B4565-3B09-771B-DFAD-D1A0F34E7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AE201-8DBE-E221-9A79-9A3820A1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93DF7-337B-0A03-88C9-9D279B583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C731A-B95E-4122-95D8-3C65741FB769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CF7EF-7306-1F18-5A5B-6B650E25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8F17E-B7A6-962A-1D75-40642D25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6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728CA-C7A0-1EE0-4EB8-43941CE1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6F8F0-155B-E5DC-CE8E-87D36894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D2C5E-1227-3C11-7193-9FEC214CC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50A94-759A-4C05-8939-199406E23989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8160E-3F9D-F6BF-6753-E3E776E0D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B190E-7E8B-9658-180C-B8842BAFE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FADD9-C1C7-4253-A759-295861590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0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runch.com/2009/12/14/rockyou-hack-security-myspace-facebook-passwords/" TargetMode="External"/><Relationship Id="rId2" Type="http://schemas.openxmlformats.org/officeDocument/2006/relationships/hyperlink" Target="https://ecos.am/en/blog/centralized-decentralized-and-distributed-systems-key-differences-advantages-and-application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ordpass.com/most-common-passwords-list/?fbclid=IwZXh0bgNhZW0CMTAAYnJpZBExVktPamxpeGlLYnpyMWNBOHNydGMGYXBwX2lkEDIyMjAzOTE3ODgyMDA4OTIAAR6f6_RJVegu2iNRDLcwnOXevjWCIwkKJGjhaOFrsJ_Pcrx4Q3925AgAPtfKpA_aem_9snc3CI6zST3XrPMlxYGJQ" TargetMode="External"/><Relationship Id="rId5" Type="http://schemas.openxmlformats.org/officeDocument/2006/relationships/hyperlink" Target="https://www.verizon.com/business/resources/reports/dbir/" TargetMode="External"/><Relationship Id="rId4" Type="http://schemas.openxmlformats.org/officeDocument/2006/relationships/hyperlink" Target="https://www.uptycs.com/blog/lastpass-security-breaches-2022-what-we-know-now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74990D-E514-6F64-55C1-5D5CD2820994}"/>
              </a:ext>
            </a:extLst>
          </p:cNvPr>
          <p:cNvSpPr txBox="1"/>
          <p:nvPr/>
        </p:nvSpPr>
        <p:spPr>
          <a:xfrm>
            <a:off x="422189" y="298621"/>
            <a:ext cx="1153297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Times New Roman"/>
                <a:ea typeface="+mn-lt"/>
                <a:cs typeface="+mn-lt"/>
              </a:rPr>
              <a:t>Tribhuvan University</a:t>
            </a:r>
            <a:br>
              <a:rPr lang="en-US" sz="3200" b="1">
                <a:latin typeface="Times New Roman"/>
                <a:ea typeface="+mn-lt"/>
                <a:cs typeface="+mn-lt"/>
              </a:rPr>
            </a:br>
            <a:r>
              <a:rPr lang="en-US" sz="3200" b="1">
                <a:latin typeface="Times New Roman"/>
                <a:ea typeface="+mn-lt"/>
                <a:cs typeface="+mn-lt"/>
              </a:rPr>
              <a:t>Institute Of Engineering</a:t>
            </a:r>
            <a:endParaRPr lang="en-US" sz="3200" b="1">
              <a:ea typeface="+mn-lt"/>
              <a:cs typeface="+mn-lt"/>
            </a:endParaRPr>
          </a:p>
          <a:p>
            <a:pPr algn="ctr"/>
            <a:r>
              <a:rPr lang="en-US" sz="2800">
                <a:latin typeface="Times New Roman"/>
                <a:ea typeface="+mn-lt"/>
                <a:cs typeface="+mn-lt"/>
              </a:rPr>
              <a:t>Kathmandu Engineering College</a:t>
            </a:r>
          </a:p>
          <a:p>
            <a:pPr algn="ctr"/>
            <a:r>
              <a:rPr lang="en-US" sz="2800">
                <a:latin typeface="Times New Roman"/>
                <a:ea typeface="+mn-lt"/>
                <a:cs typeface="+mn-lt"/>
              </a:rPr>
              <a:t>Kalimati, Kathmandu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94319-70B3-F66F-D115-CBB65D29CB57}"/>
              </a:ext>
            </a:extLst>
          </p:cNvPr>
          <p:cNvSpPr txBox="1"/>
          <p:nvPr/>
        </p:nvSpPr>
        <p:spPr>
          <a:xfrm>
            <a:off x="5215977" y="3851189"/>
            <a:ext cx="194001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Major Project 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996FC-D06A-D6BC-F660-5D64A0566739}"/>
              </a:ext>
            </a:extLst>
          </p:cNvPr>
          <p:cNvSpPr txBox="1"/>
          <p:nvPr/>
        </p:nvSpPr>
        <p:spPr>
          <a:xfrm>
            <a:off x="3355966" y="4221891"/>
            <a:ext cx="56009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Times New Roman"/>
                <a:cs typeface="Times New Roman"/>
              </a:rPr>
              <a:t>KeyShard: Distributed Password Management System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AB439-8D9D-4C43-CEAF-20D88E888BC9}"/>
              </a:ext>
            </a:extLst>
          </p:cNvPr>
          <p:cNvSpPr txBox="1"/>
          <p:nvPr/>
        </p:nvSpPr>
        <p:spPr>
          <a:xfrm>
            <a:off x="426678" y="4869301"/>
            <a:ext cx="439569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Team Members:</a:t>
            </a:r>
            <a:br>
              <a:rPr lang="en-US" b="1">
                <a:latin typeface="Times New Roman"/>
              </a:rPr>
            </a:br>
            <a:r>
              <a:rPr lang="en-US">
                <a:latin typeface="Times New Roman"/>
                <a:cs typeface="Times New Roman"/>
              </a:rPr>
              <a:t>Ravi Bhusal    KAT078BCT066</a:t>
            </a:r>
          </a:p>
          <a:p>
            <a:r>
              <a:rPr lang="en-US">
                <a:latin typeface="Times New Roman"/>
                <a:cs typeface="Times New Roman"/>
              </a:rPr>
              <a:t>Sachit Neupane    KAT078BCT068</a:t>
            </a:r>
          </a:p>
          <a:p>
            <a:r>
              <a:rPr lang="en-US">
                <a:latin typeface="Times New Roman"/>
                <a:cs typeface="Times New Roman"/>
              </a:rPr>
              <a:t>Sushant Khanal    KAT078BCT091</a:t>
            </a:r>
          </a:p>
          <a:p>
            <a:r>
              <a:rPr lang="en-US">
                <a:latin typeface="Times New Roman"/>
                <a:cs typeface="Times New Roman"/>
              </a:rPr>
              <a:t>Trishan Shrestha  KAT078BCT094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1BB0D-1C0A-799A-4BEE-EFD4CCC13898}"/>
              </a:ext>
            </a:extLst>
          </p:cNvPr>
          <p:cNvSpPr txBox="1"/>
          <p:nvPr/>
        </p:nvSpPr>
        <p:spPr>
          <a:xfrm>
            <a:off x="9250712" y="5946519"/>
            <a:ext cx="270444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Date: Chaitra 11, 2082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064DD6FD-1366-CB84-1CC3-BFE3EEE55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031" y="2211420"/>
            <a:ext cx="1705443" cy="16340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196A4-035C-0051-00EA-83182129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D345-9869-23BE-C2C5-DADAF6735E4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253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Times New Roman"/>
                <a:cs typeface="Times New Roman"/>
              </a:rPr>
              <a:t>Slides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7E9FC-EBFC-71C0-C960-6759D19A4231}"/>
              </a:ext>
            </a:extLst>
          </p:cNvPr>
          <p:cNvSpPr txBox="1">
            <a:spLocks/>
          </p:cNvSpPr>
          <p:nvPr/>
        </p:nvSpPr>
        <p:spPr>
          <a:xfrm>
            <a:off x="1782097" y="990472"/>
            <a:ext cx="4313903" cy="55024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>
                <a:latin typeface="Times New Roman"/>
                <a:cs typeface="Times New Roman"/>
              </a:rPr>
              <a:t>1.	Introduction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2.	Problem Statement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3.	Objectives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4.	Scope and Applications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5.	Literature Review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6.	Methodology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7.	System Block Diagram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8.	Data Flow Diagram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9.	UML Diagrams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10.	Algorithms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11.	Flowchart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12.	Tools Used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13. 	Implementation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14.	Verification &amp;Validation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15.	Epilogue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16.	Bibliography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1D3E61-C183-FF1A-1B96-2B3C521B2373}"/>
              </a:ext>
            </a:extLst>
          </p:cNvPr>
          <p:cNvSpPr txBox="1">
            <a:spLocks/>
          </p:cNvSpPr>
          <p:nvPr/>
        </p:nvSpPr>
        <p:spPr>
          <a:xfrm>
            <a:off x="8443452" y="993808"/>
            <a:ext cx="562895" cy="55024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>
                <a:latin typeface="Times New Roman"/>
                <a:cs typeface="Times New Roman"/>
              </a:rPr>
              <a:t>3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4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4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4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5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6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7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8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9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10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11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12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12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12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13</a:t>
            </a:r>
          </a:p>
          <a:p>
            <a:pPr algn="l"/>
            <a:r>
              <a:rPr lang="en-US" sz="1600" b="1">
                <a:latin typeface="Times New Roman"/>
                <a:cs typeface="Times New Roman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723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94E67-B172-64E5-7FB1-9921A44A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8A3E6-FA81-4433-84E3-54CEB5ABC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1B71F6D-8FEF-DE18-2168-53990F913A7C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8E726-A6B0-EF3B-9CFF-93370ADAC0CA}"/>
              </a:ext>
            </a:extLst>
          </p:cNvPr>
          <p:cNvSpPr txBox="1"/>
          <p:nvPr/>
        </p:nvSpPr>
        <p:spPr>
          <a:xfrm>
            <a:off x="749057" y="1090100"/>
            <a:ext cx="11123891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1.1 Background Theory: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+mn-lt"/>
              </a:rPr>
              <a:t>The project focuses on the building of a secure and smart password manager by utilizing distributed systems, strong encryption, and ML to enhance password strength and address the limitations of centralized systems.</a:t>
            </a:r>
            <a:endParaRPr lang="en-US" sz="2000">
              <a:latin typeface="Times New Roman"/>
              <a:cs typeface="Times New Roman"/>
            </a:endParaRPr>
          </a:p>
          <a:p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4DEBB-DBAE-99D9-9F16-860B37DF1292}"/>
              </a:ext>
            </a:extLst>
          </p:cNvPr>
          <p:cNvSpPr txBox="1"/>
          <p:nvPr/>
        </p:nvSpPr>
        <p:spPr>
          <a:xfrm>
            <a:off x="545097" y="2690538"/>
            <a:ext cx="11531810" cy="2806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Strong passwords help protect against unauthorized access, data breaches, and identity theft, while weak or reused passwords increase security risks. 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Password managers are important to maintain both security and ease of use, allowing safe storage and quick access to credentials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err="1">
                <a:latin typeface="Times New Roman"/>
                <a:ea typeface="+mn-lt"/>
                <a:cs typeface="Times New Roman"/>
              </a:rPr>
              <a:t>Keyshard</a:t>
            </a:r>
            <a:r>
              <a:rPr lang="en-US" sz="2000">
                <a:latin typeface="Times New Roman"/>
                <a:ea typeface="+mn-lt"/>
                <a:cs typeface="Times New Roman"/>
              </a:rPr>
              <a:t> improves password protection by combining three domains: 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distrbuted</a:t>
            </a:r>
            <a:r>
              <a:rPr lang="en-US" sz="2000">
                <a:latin typeface="Times New Roman"/>
                <a:ea typeface="+mn-lt"/>
                <a:cs typeface="Times New Roman"/>
              </a:rPr>
              <a:t> storage, zero knowledge security and 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Ml</a:t>
            </a:r>
            <a:r>
              <a:rPr lang="en-US" sz="2000">
                <a:latin typeface="Times New Roman"/>
                <a:ea typeface="+mn-lt"/>
                <a:cs typeface="Times New Roman"/>
              </a:rPr>
              <a:t> based analysis</a:t>
            </a:r>
            <a:endParaRPr lang="en-US"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358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F4BC-3D8E-546A-2BD3-C4A11603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F61994-0B21-C066-59EF-535DAB74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2239CA7-2277-526B-9A55-23961278E823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E5A4A-B2EE-6368-C41E-CF2A14815685}"/>
              </a:ext>
            </a:extLst>
          </p:cNvPr>
          <p:cNvSpPr txBox="1"/>
          <p:nvPr/>
        </p:nvSpPr>
        <p:spPr>
          <a:xfrm>
            <a:off x="544445" y="690119"/>
            <a:ext cx="11531810" cy="38318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1.1.1 Distributed Management: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 algn="just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overseeing and coordinating a system where components  are spread across multiple locations or nodes. </a:t>
            </a:r>
          </a:p>
          <a:p>
            <a:pPr marL="742950" lvl="1" indent="-285750" algn="just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reliable access without depending on a single server. </a:t>
            </a:r>
          </a:p>
          <a:p>
            <a:pPr algn="just"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1.1.2 Password Manager: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 algn="just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tool that helps users generate, store, and autofill complex passwords securely across websites and services.</a:t>
            </a:r>
          </a:p>
          <a:p>
            <a:pPr algn="just"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1.1.3 Zero Knowledge End-to-End Encryption: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 algn="just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cryptographic method used to prove knowledge about a piece of data, without revealing the data itself. </a:t>
            </a:r>
          </a:p>
          <a:p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9D602-ABB3-C8D2-D800-4A621E6321F6}"/>
              </a:ext>
            </a:extLst>
          </p:cNvPr>
          <p:cNvSpPr txBox="1"/>
          <p:nvPr/>
        </p:nvSpPr>
        <p:spPr>
          <a:xfrm>
            <a:off x="544445" y="3591142"/>
            <a:ext cx="11327851" cy="3422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1.1.4 AES-GCM (256) Based Authenticated Encryption: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Fast and secure symmetric key password encryption and decryption.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1.1.5 Argon2id Hashing Algorithm: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(256 bit Key)</a:t>
            </a:r>
          </a:p>
          <a:p>
            <a:pPr marL="742950" lvl="1" indent="-285750" algn="just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high-performance, memory-hard key derivation function (KDF) used for master key generation. </a:t>
            </a:r>
          </a:p>
          <a:p>
            <a:pPr algn="just">
              <a:lnSpc>
                <a:spcPct val="150000"/>
              </a:lnSpc>
            </a:pPr>
            <a:r>
              <a:rPr lang="en-US" b="1" u="sng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1.1.6 ML driven Password Analysis: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machine learning to evaluate password strength based on features like length, entropy, and pattern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complexity.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>
              <a:latin typeface="Aptos" panose="02110004020202020204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218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2CBE-C2B6-CABD-D233-8BDEE24A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6DC261-563D-8A24-C3C9-2CA24896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222FA1E-E039-6E5B-689D-C189599479A7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39ACD-DADC-15CA-93B0-04F3C7F19A28}"/>
              </a:ext>
            </a:extLst>
          </p:cNvPr>
          <p:cNvSpPr txBox="1"/>
          <p:nvPr/>
        </p:nvSpPr>
        <p:spPr>
          <a:xfrm>
            <a:off x="749057" y="1090100"/>
            <a:ext cx="11123891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1.1 Background Theory: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+mn-lt"/>
              </a:rPr>
              <a:t>The project focuses on the building of a secure and smart password manager by utilizing distributed systems, strong encryption, and ML to enhance password strength and address the limitations of centralized systems.</a:t>
            </a:r>
            <a:endParaRPr lang="en-US" sz="2000">
              <a:latin typeface="Times New Roman"/>
              <a:cs typeface="Times New Roman"/>
            </a:endParaRPr>
          </a:p>
          <a:p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6FB74-7064-7764-E696-689B2C442118}"/>
              </a:ext>
            </a:extLst>
          </p:cNvPr>
          <p:cNvSpPr txBox="1"/>
          <p:nvPr/>
        </p:nvSpPr>
        <p:spPr>
          <a:xfrm>
            <a:off x="534054" y="2315833"/>
            <a:ext cx="11531810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1.1.1 Distributed Management: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overseeing and coordinating a system where components  are spread across multiple locations or nodes. 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reliable access without depending on a single server. </a:t>
            </a:r>
          </a:p>
          <a:p>
            <a:pPr>
              <a:lnSpc>
                <a:spcPct val="150000"/>
              </a:lnSpc>
            </a:pP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1.1.2 Password Manager: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tool that helps users generate, store, and autofill complex passwords securely across websites and services.</a:t>
            </a:r>
          </a:p>
          <a:p>
            <a:pPr>
              <a:lnSpc>
                <a:spcPct val="150000"/>
              </a:lnSpc>
            </a:pP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1.1.3 Zero Knowledge End-to-End Encryption: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cryptographic method used to prove knowledge about a piece of data, without revealing the data itself. </a:t>
            </a:r>
          </a:p>
          <a:p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0801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2DB2-E90E-A05D-9FE9-1FFE27F4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943F7F-5B3C-1801-806B-9A4B692AC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2F70B49-30B9-5A81-D83E-E2A39FEC115B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88111-E5F9-653E-25E6-BF1D1567FA4F}"/>
              </a:ext>
            </a:extLst>
          </p:cNvPr>
          <p:cNvSpPr txBox="1"/>
          <p:nvPr/>
        </p:nvSpPr>
        <p:spPr>
          <a:xfrm>
            <a:off x="749057" y="1090100"/>
            <a:ext cx="11123891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1.1 Background Theory: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+mn-lt"/>
              </a:rPr>
              <a:t>The project focuses on the building of a secure and smart password manager by utilizing distributed systems, strong encryption, and ML to enhance password strength and address the limitations of centralized systems.</a:t>
            </a:r>
            <a:endParaRPr lang="en-US" sz="2000">
              <a:latin typeface="Times New Roman"/>
              <a:cs typeface="Times New Roman"/>
            </a:endParaRPr>
          </a:p>
          <a:p>
            <a:endParaRPr 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23CDD-1AF7-9AAD-6C80-568CBB05B9D1}"/>
              </a:ext>
            </a:extLst>
          </p:cNvPr>
          <p:cNvSpPr txBox="1"/>
          <p:nvPr/>
        </p:nvSpPr>
        <p:spPr>
          <a:xfrm>
            <a:off x="647076" y="2419742"/>
            <a:ext cx="11327851" cy="4930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1.1.4 AES-GCM (256) Based Authenticated Encryption:</a:t>
            </a:r>
            <a:r>
              <a:rPr lang="en-US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Fast and secure symmetric key password encryption and decryption.</a:t>
            </a:r>
          </a:p>
          <a:p>
            <a:pPr lvl="1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1.1.5 Argon2id Hashing Algorithm: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(256 bit Key)</a:t>
            </a: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high-performance, memory-hard key derivation function (KDF) used for master key generation. </a:t>
            </a:r>
          </a:p>
          <a:p>
            <a:pPr lvl="1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u="sng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1.1.6 ML driven Password Analysis:</a:t>
            </a:r>
            <a:r>
              <a:rPr lang="en-US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machine learning to evaluate password strength based on features like length, entropy, and pattern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complexity.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>
              <a:latin typeface="Aptos" panose="02110004020202020204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0373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F5926-F3A6-926C-58AB-6B09CA78F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4865F1-01E9-60DD-B485-FAB6EFA33F1D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2. Problem Statement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500F03-F997-AAB3-D3CA-6E84A2C8C43E}"/>
              </a:ext>
            </a:extLst>
          </p:cNvPr>
          <p:cNvGraphicFramePr>
            <a:graphicFrameLocks noGrp="1"/>
          </p:cNvGraphicFramePr>
          <p:nvPr/>
        </p:nvGraphicFramePr>
        <p:xfrm>
          <a:off x="987133" y="1205343"/>
          <a:ext cx="10089576" cy="5029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044788">
                  <a:extLst>
                    <a:ext uri="{9D8B030D-6E8A-4147-A177-3AD203B41FA5}">
                      <a16:colId xmlns:a16="http://schemas.microsoft.com/office/drawing/2014/main" val="3656170889"/>
                    </a:ext>
                  </a:extLst>
                </a:gridCol>
                <a:gridCol w="5044788">
                  <a:extLst>
                    <a:ext uri="{9D8B030D-6E8A-4147-A177-3AD203B41FA5}">
                      <a16:colId xmlns:a16="http://schemas.microsoft.com/office/drawing/2014/main" val="3073885805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023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LastPass 2022: 25M vaults stolen in one breach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52866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password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"123456" — most used password in 2023 (</a:t>
                      </a:r>
                      <a:r>
                        <a:rPr lang="en-US" sz="1800" b="0" u="none" strike="noStrike" noProof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NordPass</a:t>
                      </a:r>
                      <a:r>
                        <a:rPr lang="en-US" sz="1800" b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28636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81% of breaches involve weak/stolen passwords (Verizon DBIR 2023)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352299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Regulatory 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u="none" strike="noStrike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GDPR/HIPAA require data residency; cloud managers can't guarantee it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141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94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17EC-32EF-3EEE-EC9A-ECAD9836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7F198-0379-4726-A68F-1C2FCB17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DE440D-C4CE-B3F7-4544-D89C3253FD7E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3. 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4E87E-DC71-3521-D58A-03E099642D04}"/>
              </a:ext>
            </a:extLst>
          </p:cNvPr>
          <p:cNvSpPr txBox="1"/>
          <p:nvPr/>
        </p:nvSpPr>
        <p:spPr>
          <a:xfrm>
            <a:off x="729761" y="1717430"/>
            <a:ext cx="11034346" cy="1564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+mn-lt"/>
              </a:rPr>
              <a:t>To design and implement a secure distributed password management system that safely stores user passwords and provides real-time password strength evaluation using a zero-knowledge security model.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7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0857A-2019-432B-ED62-D08B3318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12AD7B3-C69C-6955-1B2E-4A137C24A919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4. Scope and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58938-7F24-DA16-0205-9E3C9F29B3DF}"/>
              </a:ext>
            </a:extLst>
          </p:cNvPr>
          <p:cNvSpPr txBox="1"/>
          <p:nvPr/>
        </p:nvSpPr>
        <p:spPr>
          <a:xfrm>
            <a:off x="1088904" y="931985"/>
            <a:ext cx="10887807" cy="3076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u="sng">
                <a:latin typeface="Times New Roman"/>
                <a:cs typeface="Times New Roman"/>
              </a:rPr>
              <a:t>Scope: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Distributed, secure management of user credentials across multiple nodes (</a:t>
            </a:r>
            <a:r>
              <a:rPr lang="en-US" sz="2000" err="1">
                <a:latin typeface="Times New Roman"/>
                <a:cs typeface="Times New Roman"/>
              </a:rPr>
              <a:t>BoltDB</a:t>
            </a:r>
            <a:r>
              <a:rPr lang="en-US" sz="2000">
                <a:latin typeface="Times New Roman"/>
                <a:cs typeface="Times New Roman"/>
              </a:rPr>
              <a:t>).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ML-based real-time password strength evaluation and recommendations (XGBoost, SHAP).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Robust encryption and authentication (AES-GCM, Argon2id, Ed25519).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DAB5A-1158-1638-B8A7-52DCCE67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E4B51-0D22-8A67-DCD2-F9D9E27ED4BD}"/>
              </a:ext>
            </a:extLst>
          </p:cNvPr>
          <p:cNvSpPr txBox="1"/>
          <p:nvPr/>
        </p:nvSpPr>
        <p:spPr>
          <a:xfrm>
            <a:off x="1088904" y="3569103"/>
            <a:ext cx="9875975" cy="24692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u="sng">
                <a:latin typeface="Times New Roman"/>
                <a:cs typeface="Times New Roman"/>
              </a:rPr>
              <a:t>Application: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Personal password management for individuals.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Enterprise credential management for organizations.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 sz="2000">
                <a:latin typeface="Times New Roman"/>
                <a:cs typeface="Times New Roman"/>
              </a:rPr>
              <a:t>Backup and Recovery.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2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66B5-DF9D-CE38-6D0C-915559F1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EB61DD-B371-AB19-43F7-4D7F5EFC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E4C116-0CDF-DB2C-EA88-2977CB157F82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5. Literature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C53CE5-2E4C-878C-0BFE-EF1EF25F5C9C}"/>
              </a:ext>
            </a:extLst>
          </p:cNvPr>
          <p:cNvSpPr txBox="1">
            <a:spLocks/>
          </p:cNvSpPr>
          <p:nvPr/>
        </p:nvSpPr>
        <p:spPr>
          <a:xfrm>
            <a:off x="838200" y="146849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000" b="1">
                <a:latin typeface="Times New Roman"/>
                <a:cs typeface="Times New Roman"/>
              </a:rPr>
              <a:t>Weaknesses in Current Systems</a:t>
            </a:r>
            <a:endParaRPr lang="en-US" sz="2000">
              <a:latin typeface="Times New Roman"/>
              <a:cs typeface="Times New Roman"/>
            </a:endParaRPr>
          </a:p>
          <a:p>
            <a:pPr marL="800100" lvl="1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>
                <a:latin typeface="Times New Roman"/>
                <a:cs typeface="Times New Roman"/>
              </a:rPr>
              <a:t>Centralized: Master password exposure, memory exploits, scalability limits.</a:t>
            </a:r>
            <a:endParaRPr lang="en-US">
              <a:latin typeface="Times New Roman"/>
              <a:cs typeface="Times New Roman"/>
            </a:endParaRPr>
          </a:p>
          <a:p>
            <a:pPr marL="800100" lvl="1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>
                <a:latin typeface="Times New Roman"/>
                <a:cs typeface="Times New Roman"/>
              </a:rPr>
              <a:t>Session Misuse: Session token can be stolen and reused by the attacker. </a:t>
            </a:r>
          </a:p>
          <a:p>
            <a:pPr marL="800100" lvl="1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>
                <a:latin typeface="Times New Roman"/>
                <a:cs typeface="Times New Roman"/>
              </a:rPr>
              <a:t>Critical gap: No AI-driven password strength assessment.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C7493-242A-3353-4510-DA0BEBF8D9C8}"/>
              </a:ext>
            </a:extLst>
          </p:cNvPr>
          <p:cNvSpPr txBox="1"/>
          <p:nvPr/>
        </p:nvSpPr>
        <p:spPr>
          <a:xfrm>
            <a:off x="838200" y="3270785"/>
            <a:ext cx="7526419" cy="36009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Times New Roman"/>
                <a:cs typeface="Times New Roman"/>
              </a:rPr>
              <a:t>Solution Provided: KeyShard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cs typeface="Times New Roman"/>
              </a:rPr>
              <a:t>Distributed Infrastructure</a:t>
            </a: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/>
                <a:cs typeface="Times New Roman"/>
              </a:rPr>
              <a:t>High availability &amp; fault tolerant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cs typeface="Times New Roman"/>
              </a:rPr>
              <a:t>Zero-Knowledge Encryption</a:t>
            </a:r>
          </a:p>
          <a:p>
            <a:pPr lvl="1">
              <a:lnSpc>
                <a:spcPct val="150000"/>
              </a:lnSpc>
            </a:pPr>
            <a:r>
              <a:rPr lang="en-GB" sz="2000" dirty="0">
                <a:latin typeface="Times New Roman"/>
                <a:cs typeface="Times New Roman"/>
              </a:rPr>
              <a:t>AES GCM (symmetric encryption) + Ed25519 (Digital signature). </a:t>
            </a:r>
            <a:endParaRPr lang="en-US" dirty="0">
              <a:latin typeface="Times New Roman"/>
              <a:cs typeface="Times New Roman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cs typeface="Times New Roman"/>
              </a:rPr>
              <a:t>ML Strength Analysis</a:t>
            </a:r>
            <a:br>
              <a:rPr lang="en-GB" sz="2000" b="1" dirty="0">
                <a:latin typeface="Times New Roman"/>
                <a:cs typeface="Times New Roman"/>
              </a:rPr>
            </a:br>
            <a:r>
              <a:rPr lang="en-GB" sz="2000" dirty="0">
                <a:latin typeface="Times New Roman"/>
                <a:cs typeface="Times New Roman"/>
              </a:rPr>
              <a:t>XGBoost (~86.55% macro average accuracy).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0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7FFF-45C1-5C89-1630-F05FF6CF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664EBD-918C-FA7A-DAE9-6F206377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55A4C8-B2C1-4FCB-6D0E-3E4CAA6F9EE6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5. 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1CF11D-15A5-E7CB-200B-08D4330FB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589870"/>
              </p:ext>
            </p:extLst>
          </p:nvPr>
        </p:nvGraphicFramePr>
        <p:xfrm>
          <a:off x="1466713" y="1977212"/>
          <a:ext cx="9258574" cy="2903576"/>
        </p:xfrm>
        <a:graphic>
          <a:graphicData uri="http://schemas.openxmlformats.org/drawingml/2006/table">
            <a:tbl>
              <a:tblPr/>
              <a:tblGrid>
                <a:gridCol w="4629287">
                  <a:extLst>
                    <a:ext uri="{9D8B030D-6E8A-4147-A177-3AD203B41FA5}">
                      <a16:colId xmlns:a16="http://schemas.microsoft.com/office/drawing/2014/main" val="46453734"/>
                    </a:ext>
                  </a:extLst>
                </a:gridCol>
                <a:gridCol w="4629287">
                  <a:extLst>
                    <a:ext uri="{9D8B030D-6E8A-4147-A177-3AD203B41FA5}">
                      <a16:colId xmlns:a16="http://schemas.microsoft.com/office/drawing/2014/main" val="1479852725"/>
                    </a:ext>
                  </a:extLst>
                </a:gridCol>
              </a:tblGrid>
              <a:tr h="81463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Password Manager​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Key-Shard: Distributed Password Manager​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443793"/>
                  </a:ext>
                </a:extLst>
              </a:tr>
              <a:tr h="45967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database architecture​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is replicated among 5 nodes​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2258"/>
                  </a:ext>
                </a:extLst>
              </a:tr>
              <a:tr h="81463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point failure​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Reduction/elimination of single point failure​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05360"/>
                  </a:ext>
                </a:extLst>
              </a:tr>
              <a:tr h="814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1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may store encrypted vault + key derivation parameters (salt, iterations)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Client-side key derivation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161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178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DE1BF-1034-068D-396A-B68005E0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16AC46-D5D7-0DEB-BE6D-915FCDE63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C2D1012-9CFB-8EB0-5526-F624B9CD98D3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6.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A10023-9E72-484E-FEE6-B703ED2D6438}"/>
              </a:ext>
            </a:extLst>
          </p:cNvPr>
          <p:cNvSpPr txBox="1"/>
          <p:nvPr/>
        </p:nvSpPr>
        <p:spPr>
          <a:xfrm>
            <a:off x="4956464" y="5922818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Process Model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1A58BC-064B-0FC2-32DA-815752B98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3" y="1534790"/>
            <a:ext cx="11839074" cy="378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12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9FE6-E762-BBC6-6AE2-115DA14A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9FC3B9-FBA0-FA87-12F2-921B6F9D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0D1DA5-75F8-6773-3847-2EA9BE775CB0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6.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58008-675A-D39E-5E56-6E995D5C873A}"/>
              </a:ext>
            </a:extLst>
          </p:cNvPr>
          <p:cNvSpPr txBox="1"/>
          <p:nvPr/>
        </p:nvSpPr>
        <p:spPr>
          <a:xfrm>
            <a:off x="688094" y="1072720"/>
            <a:ext cx="9676846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 Why Incremental Model??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u="sng">
                <a:latin typeface="Times New Roman"/>
                <a:ea typeface="+mn-lt"/>
                <a:cs typeface="Times New Roman"/>
              </a:rPr>
              <a:t>Risk Isolation:</a:t>
            </a:r>
            <a:br>
              <a:rPr lang="en-US" sz="2000">
                <a:latin typeface="Times New Roman"/>
                <a:ea typeface="+mn-lt"/>
                <a:cs typeface="Times New Roman"/>
              </a:rPr>
            </a:br>
            <a:r>
              <a:rPr lang="en-US" sz="2000">
                <a:latin typeface="Times New Roman"/>
                <a:ea typeface="+mn-lt"/>
                <a:cs typeface="Times New Roman"/>
              </a:rPr>
              <a:t>Tackle toughest risks early (distributed storage/crypto/ML) in dedicated increments.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u="sng">
                <a:latin typeface="Times New Roman"/>
                <a:ea typeface="+mn-lt"/>
                <a:cs typeface="Times New Roman"/>
              </a:rPr>
              <a:t>Steady Progress:</a:t>
            </a:r>
            <a:br>
              <a:rPr lang="en-US" sz="2000">
                <a:latin typeface="Times New Roman"/>
                <a:ea typeface="+mn-lt"/>
                <a:cs typeface="Times New Roman"/>
              </a:rPr>
            </a:br>
            <a:r>
              <a:rPr lang="en-US" sz="2000">
                <a:latin typeface="Times New Roman"/>
                <a:ea typeface="+mn-lt"/>
                <a:cs typeface="Times New Roman"/>
              </a:rPr>
              <a:t>Deliver concrete results every 3-4 months for academic milestones.</a:t>
            </a:r>
          </a:p>
          <a:p>
            <a:pPr>
              <a:lnSpc>
                <a:spcPct val="150000"/>
              </a:lnSpc>
            </a:pPr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gg sans"/>
            </a:endParaRPr>
          </a:p>
        </p:txBody>
      </p:sp>
    </p:spTree>
    <p:extLst>
      <p:ext uri="{BB962C8B-B14F-4D97-AF65-F5344CB8AC3E}">
        <p14:creationId xmlns:p14="http://schemas.microsoft.com/office/powerpoint/2010/main" val="2475076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A8CD-3427-930E-D563-8D24324AE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FCC25-5DF6-2FB5-D182-A56E2072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526D81-361A-64EE-E872-C3A4CC611118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7. System 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1C2A0-6053-E0AE-EC7F-AC57144F5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508" y="716153"/>
            <a:ext cx="3844984" cy="600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3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2A6E-204D-B1AB-C7E8-FAB85949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81629-EF53-7170-7923-86F4FAEB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01D617-5AC6-DD0E-1E9F-4EB84B388764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7. System 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E7B8D8-FD17-42CF-9A0A-358B9DD47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096"/>
          <a:stretch>
            <a:fillRect/>
          </a:stretch>
        </p:blipFill>
        <p:spPr>
          <a:xfrm>
            <a:off x="2149100" y="752750"/>
            <a:ext cx="7893800" cy="578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9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66D5B-DFFD-10C4-7CDC-4A469D26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DCFB3-B368-FACD-BC04-4F97B973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1BF8336-C9BF-3559-56CA-45979809D6BF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7. System Block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10BFBE-D9D7-F1C5-70F5-0BE2C5586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85"/>
          <a:stretch>
            <a:fillRect/>
          </a:stretch>
        </p:blipFill>
        <p:spPr>
          <a:xfrm>
            <a:off x="2180273" y="711570"/>
            <a:ext cx="7353675" cy="614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55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37E5B-7073-3C2A-AEBC-27E4C0A1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2A5F6C-5E7C-309C-57C6-71F315968C4C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8. Data 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45C39-6124-4B72-64C4-559362EA5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136660"/>
            <a:ext cx="7315200" cy="4120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10976-A6D7-9B86-4985-A2F04FC0F451}"/>
              </a:ext>
            </a:extLst>
          </p:cNvPr>
          <p:cNvSpPr txBox="1"/>
          <p:nvPr/>
        </p:nvSpPr>
        <p:spPr>
          <a:xfrm>
            <a:off x="5384908" y="5859756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DFD Level-0</a:t>
            </a:r>
          </a:p>
        </p:txBody>
      </p:sp>
    </p:spTree>
    <p:extLst>
      <p:ext uri="{BB962C8B-B14F-4D97-AF65-F5344CB8AC3E}">
        <p14:creationId xmlns:p14="http://schemas.microsoft.com/office/powerpoint/2010/main" val="1615883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56543-7071-920B-47D4-0EEBEBF5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0BFDE9-4916-D224-8E01-56F976905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947" y="683183"/>
            <a:ext cx="7142106" cy="57623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A01AF-1881-24DC-C713-DE7B0297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709805-D8BD-5886-21FC-11B5F7307F08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8. Data Flow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1832B8-20C5-8EA4-4B32-9176965B9562}"/>
              </a:ext>
            </a:extLst>
          </p:cNvPr>
          <p:cNvSpPr txBox="1"/>
          <p:nvPr/>
        </p:nvSpPr>
        <p:spPr>
          <a:xfrm>
            <a:off x="5384908" y="6422782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DFD Level-1</a:t>
            </a:r>
          </a:p>
        </p:txBody>
      </p:sp>
    </p:spTree>
    <p:extLst>
      <p:ext uri="{BB962C8B-B14F-4D97-AF65-F5344CB8AC3E}">
        <p14:creationId xmlns:p14="http://schemas.microsoft.com/office/powerpoint/2010/main" val="4031028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CEC2-90F7-6F41-F7A2-D3D6D993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469370-8760-6998-D20F-86A786D9712F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9. UML 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CDCDB8-27B3-476A-B730-83E5D1378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775" y="711209"/>
            <a:ext cx="5554450" cy="6010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C680DA-2DE7-9E8E-4A5C-2ABFD955F89F}"/>
              </a:ext>
            </a:extLst>
          </p:cNvPr>
          <p:cNvSpPr txBox="1"/>
          <p:nvPr/>
        </p:nvSpPr>
        <p:spPr>
          <a:xfrm>
            <a:off x="1215736" y="6352143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592415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1F0E-8785-97C4-8BD4-F2FA9C1E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164D7C-1DC9-6228-349A-342F5C62D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160" y="497385"/>
            <a:ext cx="9115680" cy="58547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F7DE2-F18A-5832-A870-B4123430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16295F-EAD6-ED59-C953-F5559A3D931E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9. UML Diagrams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546B3-F27E-8D43-4623-4405F8EC3102}"/>
              </a:ext>
            </a:extLst>
          </p:cNvPr>
          <p:cNvSpPr txBox="1"/>
          <p:nvPr/>
        </p:nvSpPr>
        <p:spPr>
          <a:xfrm>
            <a:off x="4912260" y="6392262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420854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8AEA5-52EC-38BB-FE96-A99EB7156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58D09F4-BE26-E842-C947-803186A22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564" y="744295"/>
            <a:ext cx="7896535" cy="58216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70B27-97AB-0692-3BF8-84FBDA75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0DC327-E2A3-E7DE-2D16-3DB413E39B64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9. UML Diagrams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92B8B-C334-FFDB-75E6-5D990E169859}"/>
              </a:ext>
            </a:extLst>
          </p:cNvPr>
          <p:cNvSpPr txBox="1"/>
          <p:nvPr/>
        </p:nvSpPr>
        <p:spPr>
          <a:xfrm>
            <a:off x="2968432" y="6352142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1177955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A5CD-06E5-E086-6824-61C995F6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D7F117-9410-6EE8-0C1C-09FBE7AD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6439BC-87F4-C473-78B2-FDDB48BA173F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10.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01A02-AE46-6BAD-0451-291689B7E50E}"/>
              </a:ext>
            </a:extLst>
          </p:cNvPr>
          <p:cNvSpPr txBox="1"/>
          <p:nvPr/>
        </p:nvSpPr>
        <p:spPr>
          <a:xfrm>
            <a:off x="1162075" y="1666108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01187-A15B-80B3-4A20-F0AC86755DCD}"/>
              </a:ext>
            </a:extLst>
          </p:cNvPr>
          <p:cNvSpPr txBox="1"/>
          <p:nvPr/>
        </p:nvSpPr>
        <p:spPr>
          <a:xfrm>
            <a:off x="705648" y="1093371"/>
            <a:ext cx="10780704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000" b="1">
                <a:latin typeface="Times New Roman"/>
                <a:cs typeface="Times New Roman"/>
              </a:rPr>
              <a:t>AES-GCM + Ed25519 Security:</a:t>
            </a:r>
            <a:br>
              <a:rPr lang="en-US" sz="2000">
                <a:latin typeface="Times New Roman"/>
              </a:rPr>
            </a:br>
            <a:r>
              <a:rPr lang="en-US" sz="2000">
                <a:latin typeface="Times New Roman"/>
                <a:ea typeface="+mn-lt"/>
                <a:cs typeface="Times New Roman"/>
              </a:rPr>
              <a:t>Symmetric key AES-GCM (256 bit)  is used for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>
                <a:latin typeface="Times New Roman"/>
                <a:ea typeface="+mn-lt"/>
                <a:cs typeface="Times New Roman"/>
              </a:rPr>
              <a:t>encrypting password vault, while Asymmetric digital signature algorithm Ed25519 is used for </a:t>
            </a:r>
            <a:r>
              <a:rPr lang="en-US" sz="2000">
                <a:latin typeface="Times New Roman"/>
                <a:ea typeface="+mn-lt"/>
                <a:cs typeface="+mn-lt"/>
              </a:rPr>
              <a:t>authentication.</a:t>
            </a:r>
            <a:br>
              <a:rPr lang="en-US" sz="2000">
                <a:latin typeface="Times New Roman"/>
                <a:ea typeface="+mn-lt"/>
                <a:cs typeface="+mn-lt"/>
              </a:rPr>
            </a:b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2000" b="1">
                <a:latin typeface="Times New Roman"/>
                <a:cs typeface="Times New Roman"/>
              </a:rPr>
              <a:t>Argon2id Key Derivation Function:</a:t>
            </a:r>
            <a:br>
              <a:rPr lang="en-US" sz="2000">
                <a:latin typeface="Times New Roman"/>
              </a:rPr>
            </a:br>
            <a:r>
              <a:rPr lang="en-US" sz="2000">
                <a:latin typeface="Times New Roman"/>
                <a:ea typeface="+mn-lt"/>
                <a:cs typeface="+mn-lt"/>
              </a:rPr>
              <a:t>A memory-hard key derivation function that defends against GPU and side-channel attacks.</a:t>
            </a:r>
            <a:br>
              <a:rPr lang="en-US" sz="2000">
                <a:latin typeface="Times New Roman"/>
                <a:ea typeface="+mn-lt"/>
                <a:cs typeface="+mn-lt"/>
              </a:rPr>
            </a:b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2000" b="1">
                <a:latin typeface="Times New Roman"/>
                <a:cs typeface="Times New Roman"/>
              </a:rPr>
              <a:t>XG Boost Classifier:</a:t>
            </a:r>
            <a:br>
              <a:rPr lang="en-US" sz="2000">
                <a:latin typeface="Times New Roman"/>
              </a:rPr>
            </a:br>
            <a:r>
              <a:rPr lang="en-US" sz="2000">
                <a:latin typeface="Times New Roman"/>
                <a:ea typeface="+mn-lt"/>
                <a:cs typeface="+mn-lt"/>
              </a:rPr>
              <a:t>A high-performance machine learning algorithm optimized for speed and accuracy in classification tasks.</a:t>
            </a:r>
          </a:p>
          <a:p>
            <a:pPr marL="342900" indent="-342900">
              <a:buAutoNum type="arabicPeriod"/>
            </a:pPr>
            <a:endParaRPr lang="en-US" sz="2000">
              <a:latin typeface="Times New Roman"/>
              <a:ea typeface="+mn-lt"/>
              <a:cs typeface="+mn-lt"/>
            </a:endParaRPr>
          </a:p>
          <a:p>
            <a:pPr marL="342900" indent="-342900">
              <a:buFontTx/>
              <a:buAutoNum type="arabi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SHAP Recommendation</a:t>
            </a:r>
            <a:r>
              <a:rPr lang="en-US" sz="2000" b="1">
                <a:latin typeface="Times New Roman"/>
                <a:cs typeface="Times New Roman"/>
              </a:rPr>
              <a:t>: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/>
                <a:ea typeface="+mn-lt"/>
                <a:cs typeface="+mn-lt"/>
              </a:rPr>
              <a:t>Explains model predictions by computing feature-level contributions using game-theoretic Shapley values.</a:t>
            </a:r>
            <a:endParaRPr lang="en-US">
              <a:latin typeface="Times New Roman"/>
              <a:ea typeface="+mn-lt"/>
              <a:cs typeface="+mn-lt"/>
            </a:endParaRPr>
          </a:p>
          <a:p>
            <a:br>
              <a:rPr lang="en-US" sz="2000" b="1">
                <a:latin typeface="Times New Roman"/>
                <a:ea typeface="+mn-lt"/>
                <a:cs typeface="Times New Roman"/>
              </a:rPr>
            </a:br>
            <a:br>
              <a:rPr lang="en-US">
                <a:ea typeface="+mn-lt"/>
                <a:cs typeface="+mn-lt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48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2924-2D71-2565-B31B-CAF68458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15BD1-87F2-C4EB-0FCF-4689FBEB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B134FB6-AE4E-2D9F-A7B9-AD1A0B77351C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11. Flowchart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07209-35AE-4157-5800-436E50FA3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303" y="248888"/>
            <a:ext cx="6107614" cy="647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49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421E-CD35-DD07-3C5A-F93B4CCD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6D2412-F090-8E9A-21C9-220BBC68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63D00-FEE6-931E-5C4E-5534DF4ACE56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11. Flowchart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04AE2-73BE-F8D2-86AD-D89649168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5" t="-1063" r="-3035" b="44070"/>
          <a:stretch>
            <a:fillRect/>
          </a:stretch>
        </p:blipFill>
        <p:spPr>
          <a:xfrm>
            <a:off x="838200" y="624840"/>
            <a:ext cx="1051560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11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71D75-9749-7493-BA59-65A82A81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65893C-BDEC-AB08-D547-77930AFE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3D3C52-05EA-E433-A3D1-AB9AC35EC940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11. 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E88922-F1AD-F0BC-240B-65AAE76AE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86" t="42724" r="-672" b="-2497"/>
          <a:stretch>
            <a:fillRect/>
          </a:stretch>
        </p:blipFill>
        <p:spPr>
          <a:xfrm>
            <a:off x="369920" y="713426"/>
            <a:ext cx="10416983" cy="590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00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0209-F25B-894D-46C3-B2DAA6DF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8EBCAFC-154B-0568-3426-8E77AC1918CC}"/>
              </a:ext>
            </a:extLst>
          </p:cNvPr>
          <p:cNvSpPr txBox="1"/>
          <p:nvPr/>
        </p:nvSpPr>
        <p:spPr>
          <a:xfrm>
            <a:off x="1219909" y="1697098"/>
            <a:ext cx="1036177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2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React Native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Python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Docker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Android studio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Jupyter Notebook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Go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VS Code (IDE)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Ngrok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Redis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300727-FC93-D6C9-9BA0-62CD1528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CD5132-A8B5-F4F9-B4CE-2BB4C13E800C}"/>
              </a:ext>
            </a:extLst>
          </p:cNvPr>
          <p:cNvSpPr>
            <a:spLocks noGrp="1"/>
          </p:cNvSpPr>
          <p:nvPr/>
        </p:nvSpPr>
        <p:spPr>
          <a:xfrm>
            <a:off x="990600" y="2889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/>
                <a:cs typeface="Times New Roman"/>
              </a:rPr>
              <a:t>12. Tools Used</a:t>
            </a:r>
          </a:p>
        </p:txBody>
      </p:sp>
    </p:spTree>
    <p:extLst>
      <p:ext uri="{BB962C8B-B14F-4D97-AF65-F5344CB8AC3E}">
        <p14:creationId xmlns:p14="http://schemas.microsoft.com/office/powerpoint/2010/main" val="2051194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12A6-480E-4110-418D-45C9C000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E5D1E80-B8DB-BCF1-587B-B576FC4836A1}"/>
              </a:ext>
            </a:extLst>
          </p:cNvPr>
          <p:cNvSpPr txBox="1">
            <a:spLocks/>
          </p:cNvSpPr>
          <p:nvPr/>
        </p:nvSpPr>
        <p:spPr>
          <a:xfrm>
            <a:off x="1031270" y="1697098"/>
            <a:ext cx="1073905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knowledge user authentication with client-side cryptography.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Argon2id, HKDF , SHA-256, ED25519 and AES-256-GCM for secure vault management.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distributed key-value database implementation.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hashing-based sharding with transparent request routing.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based containerization and multi-node deployment for scalability.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password strength analysis using XGBoost + SHAP.</a:t>
            </a: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7DEF45-83F9-880E-FB6A-9FECBB19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27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19654-7E11-619B-1CC3-EC290413C765}"/>
              </a:ext>
            </a:extLst>
          </p:cNvPr>
          <p:cNvSpPr>
            <a:spLocks noGrp="1"/>
          </p:cNvSpPr>
          <p:nvPr/>
        </p:nvSpPr>
        <p:spPr>
          <a:xfrm>
            <a:off x="1143000" y="4413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/>
                <a:cs typeface="Times New Roman"/>
              </a:rPr>
              <a:t>13.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50943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3479-AF27-D31F-7B89-540DC8FEE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>
            <a:extLst>
              <a:ext uri="{FF2B5EF4-FFF2-40B4-BE49-F238E27FC236}">
                <a16:creationId xmlns:a16="http://schemas.microsoft.com/office/drawing/2014/main" id="{60A61DAD-B2DA-9D2C-4A4E-D01115817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48" y="949536"/>
            <a:ext cx="10534852" cy="525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correctness verified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AES-GCM encryption/decryption, Argon2id key derivation, and HKDF key separation confirmed.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key derivation and salt uniqueness confirmed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master key derivation.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Dockerized multi-node deployment verified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 isolation, independent nodes, inter-node communication, and persistence across restarts confirmed.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CRUD operations validated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GET, SET, UPDATE, DELETE, and transparent forwarding via non-owning nodes tested.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behavior confirmed: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hashing, sharding, uniform load distribution (max deviation 0.3%), and cross-node isolation validated.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pipeline verified: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integrity, model training, accuracy, F1-scores, ROC-AUC, and SHAP feature explainability confirmed.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D44852C-2D6A-4414-BBAA-AA27FFB21D60}"/>
              </a:ext>
            </a:extLst>
          </p:cNvPr>
          <p:cNvSpPr>
            <a:spLocks noGrp="1"/>
          </p:cNvSpPr>
          <p:nvPr/>
        </p:nvSpPr>
        <p:spPr>
          <a:xfrm>
            <a:off x="990600" y="288925"/>
            <a:ext cx="10219514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14. Verification &amp; Validation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E8B7E4-8390-7BCF-0F1C-6F2893B2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98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AA5C2-01A0-F5E8-4C08-F4BB449E0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D53C5BA-0AFE-5858-E532-D66748A2D5CD}"/>
              </a:ext>
            </a:extLst>
          </p:cNvPr>
          <p:cNvSpPr txBox="1"/>
          <p:nvPr/>
        </p:nvSpPr>
        <p:spPr>
          <a:xfrm>
            <a:off x="708370" y="1088115"/>
            <a:ext cx="11251567" cy="48438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Validation</a:t>
            </a:r>
          </a:p>
          <a:p>
            <a:endParaRPr lang="en-US" b="1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validation completed: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registration, login, session management, vault operations, and password storage/retrieval confirmed.</a:t>
            </a:r>
          </a:p>
          <a:p>
            <a:pPr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 validation completed: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tested against brute force (&gt;100 attempts blocked, HTTP 429), credential stuffing, username enumeration, SQL/XSS attacks, wrong key decryption, ciphertext tampering, and memory leaks; all mitigated.</a:t>
            </a:r>
          </a:p>
          <a:p>
            <a:pPr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validation completed: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login, vault encryption/decryption, ML inference, API operations, and Docker cluster startup times all within acceptable thresholds.</a:t>
            </a:r>
          </a:p>
          <a:p>
            <a:pPr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ML model validation completed: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real-time password strength evaluation verified (86.55% macro-average accuracy, strong ROC-AUC); minor edge-case misclassification documented and understood.</a:t>
            </a:r>
          </a:p>
          <a:p>
            <a:pPr>
              <a:lnSpc>
                <a:spcPct val="150000"/>
              </a:lnSpc>
            </a:pPr>
            <a:r>
              <a:rPr lang="en-US" b="1">
                <a:latin typeface="Times New Roman"/>
                <a:cs typeface="Times New Roman"/>
              </a:rPr>
              <a:t>System reliability validated:</a:t>
            </a:r>
            <a:r>
              <a:rPr lang="en-US">
                <a:latin typeface="Times New Roman"/>
                <a:cs typeface="Times New Roman"/>
              </a:rPr>
              <a:t> distributed nodes maintain data consistency, transparent routing, and resilience under node failure scenarios.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D125698-42F8-F68D-BB56-F619D3C21BB7}"/>
              </a:ext>
            </a:extLst>
          </p:cNvPr>
          <p:cNvSpPr>
            <a:spLocks noGrp="1"/>
          </p:cNvSpPr>
          <p:nvPr/>
        </p:nvSpPr>
        <p:spPr>
          <a:xfrm>
            <a:off x="990600" y="288925"/>
            <a:ext cx="10219514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14. Verification &amp; Validation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9351E8-E66C-F25C-0F9B-346B7888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92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470B-3EDC-7E3C-6922-AECC948D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F4EFF-6D97-BF6A-718B-C53EBA9B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30</a:t>
            </a:fld>
            <a:endParaRPr lang="en-US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1C16A55-A2B0-3D59-02A0-623A92A2335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AFADD9-C1C7-4253-A759-295861590AA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9C763F7E-C882-EFF7-56B1-14A4A0A7833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AFADD9-C1C7-4253-A759-295861590AA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0B266C3-1159-2784-DD42-006C1A1AFEF8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15. Epilogue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0CD6C-E018-77DB-9C65-E160A845616A}"/>
              </a:ext>
            </a:extLst>
          </p:cNvPr>
          <p:cNvSpPr txBox="1"/>
          <p:nvPr/>
        </p:nvSpPr>
        <p:spPr>
          <a:xfrm>
            <a:off x="838200" y="764836"/>
            <a:ext cx="11298738" cy="60939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ea typeface="+mn-lt"/>
                <a:cs typeface="Times New Roman"/>
              </a:rPr>
              <a:t>RESULTS</a:t>
            </a:r>
          </a:p>
          <a:p>
            <a:pPr marL="171450" indent="-171450">
              <a:buFont typeface="Arial"/>
              <a:buChar char="•"/>
            </a:pPr>
            <a:endParaRPr lang="en-US" sz="1200">
              <a:latin typeface="Times New Roman"/>
              <a:ea typeface="+mn-lt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 Fully functional distributed password manager.</a:t>
            </a:r>
            <a:endParaRPr lang="en-US" sz="200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 High availability &amp; security.</a:t>
            </a:r>
            <a:endParaRPr lang="en-US" sz="200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 sz="1400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Architecture:</a:t>
            </a:r>
            <a:endParaRPr lang="en-US" b="1">
              <a:latin typeface="Times New Roman"/>
              <a:cs typeface="Times New Roman"/>
            </a:endParaRP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Multi-node distribution.</a:t>
            </a:r>
            <a:endParaRPr lang="en-US">
              <a:latin typeface="Times New Roman"/>
              <a:cs typeface="Times New Roman"/>
            </a:endParaRP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Consistent hashing (≤0.3% deviation).</a:t>
            </a:r>
            <a:endParaRPr lang="en-US">
              <a:latin typeface="Times New Roman"/>
              <a:cs typeface="Times New Roman"/>
            </a:endParaRP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No single point of failure.</a:t>
            </a:r>
            <a:endParaRPr lang="en-US">
              <a:latin typeface="Times New Roman"/>
              <a:cs typeface="Times New Roman"/>
            </a:endParaRPr>
          </a:p>
          <a:p>
            <a:pPr marL="628650" lvl="1" indent="-171450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Security:</a:t>
            </a:r>
            <a:endParaRPr lang="en-US" b="1">
              <a:latin typeface="Times New Roman"/>
              <a:cs typeface="Times New Roman"/>
            </a:endParaRP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 Argon2id key derivation along with AES-GCM encryption ensured confidentiality and integrity.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Zero-knowledge model maintained.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Machine Learning:</a:t>
            </a:r>
            <a:endParaRPr lang="en-US" b="1">
              <a:latin typeface="Times New Roman"/>
              <a:cs typeface="Times New Roman"/>
            </a:endParaRP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XGBoost  model achieved 86.55%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macro-average accuracy with strong ROC-AUC.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Improved detection of weak passwords using optimized threshold.</a:t>
            </a:r>
          </a:p>
          <a:p>
            <a:r>
              <a:rPr lang="en-US">
                <a:latin typeface="Times New Roman"/>
                <a:cs typeface="Times New Roman"/>
              </a:rPr>
              <a:t> </a:t>
            </a:r>
          </a:p>
          <a:p>
            <a:pPr marL="171450" indent="-171450">
              <a:buFont typeface="Arial"/>
              <a:buChar char="•"/>
            </a:pPr>
            <a:r>
              <a:rPr lang="en-US" b="1">
                <a:latin typeface="Times New Roman"/>
                <a:cs typeface="Times New Roman"/>
              </a:rPr>
              <a:t>System Integration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Successfully integrated frontend, backend and ML models.</a:t>
            </a:r>
          </a:p>
          <a:p>
            <a:pPr marL="628650" lvl="1" indent="-171450">
              <a:buFont typeface="Arial"/>
              <a:buChar char="•"/>
            </a:pPr>
            <a:r>
              <a:rPr lang="en-US">
                <a:latin typeface="Times New Roman"/>
                <a:cs typeface="Times New Roman"/>
              </a:rPr>
              <a:t>Real time password analysis using ONNX with Docker deployment.</a:t>
            </a:r>
          </a:p>
        </p:txBody>
      </p:sp>
    </p:spTree>
    <p:extLst>
      <p:ext uri="{BB962C8B-B14F-4D97-AF65-F5344CB8AC3E}">
        <p14:creationId xmlns:p14="http://schemas.microsoft.com/office/powerpoint/2010/main" val="3690044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3FC6-BF78-977F-8E69-8D1244E15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06A2A-BE98-3762-836B-0A5ABAE1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31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FFF01F-DA86-1797-CD70-F8AAD091AC90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15. Epilogue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3EBD43B-9B1A-E11D-4952-E900CB53F4D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BAFADD9-C1C7-4253-A759-295861590AA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E1C2F6-51FA-6034-7A46-CD86577C956F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latin typeface="Times New Roman"/>
                <a:cs typeface="Times New Roman"/>
              </a:rPr>
              <a:t>15. Epilogue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2F9C1-AF24-5409-D8AD-7F7AC721BC96}"/>
              </a:ext>
            </a:extLst>
          </p:cNvPr>
          <p:cNvSpPr txBox="1"/>
          <p:nvPr/>
        </p:nvSpPr>
        <p:spPr>
          <a:xfrm>
            <a:off x="726524" y="931985"/>
            <a:ext cx="10738951" cy="5565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/>
                <a:ea typeface="+mn-lt"/>
                <a:cs typeface="Times New Roman"/>
              </a:rPr>
              <a:t>CONCLUSION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KeyShard system demonstrates that distributed + zero-knowledge architecture is more secure than centralized systems. 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Effectively combines security, usability and intelligent analysis.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Provides a scalable, secure, and practical password management solution. </a:t>
            </a:r>
            <a:endParaRPr lang="en-US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/>
                <a:cs typeface="Times New Roman"/>
              </a:rPr>
              <a:t>FUTURE ENHANCEMENTS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Biometric &amp; Multi-Factor Authentication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Cross-Platform Support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400" dirty="0">
                <a:latin typeface="Times New Roman"/>
                <a:ea typeface="+mn-lt"/>
                <a:cs typeface="Times New Roman"/>
              </a:rPr>
              <a:t>Audit Logging &amp; Anomaly Detection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0202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6BB6-A61A-9FD8-033E-90E02696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906C5-5EAC-D501-B4C4-D4936189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FADD9-C1C7-4253-A759-295861590AA1}" type="slidenum">
              <a:rPr lang="en-US" smtClean="0"/>
              <a:t>32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97A6CD-C5E3-AFB1-AA1F-45F34A4E6B67}"/>
              </a:ext>
            </a:extLst>
          </p:cNvPr>
          <p:cNvSpPr>
            <a:spLocks noGrp="1"/>
          </p:cNvSpPr>
          <p:nvPr/>
        </p:nvSpPr>
        <p:spPr>
          <a:xfrm>
            <a:off x="838200" y="136525"/>
            <a:ext cx="10515600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/>
                <a:cs typeface="Times New Roman"/>
              </a:rPr>
              <a:t>16.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24793-267E-E413-83C4-662DDEDCBCCE}"/>
              </a:ext>
            </a:extLst>
          </p:cNvPr>
          <p:cNvSpPr txBox="1"/>
          <p:nvPr/>
        </p:nvSpPr>
        <p:spPr>
          <a:xfrm>
            <a:off x="693420" y="931985"/>
            <a:ext cx="10660380" cy="583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H. Zhou, Q. Liu, and F. Zhang, “Poster: An Analysis of Targeted Password Guessing Using Neural Networks”.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Castelluccia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Dürmuth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D. Perito, “Adaptive Password-Strength Meters from Markov Models”.</a:t>
            </a: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“Centralized vs Decentralized vs Distributed Systems | ECOS.” Accessed: Jun. 17, 2025. [Online]. Available: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https://ecos.am/en/blog/centralized-decentralized-and-distributed-systems-key-differences-advantages-and-applications/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“RockYou Hack: From Bad To Worse | TechCrunch.” Accessed: Jun. 17, 2025. [Online]. Available: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https://techcrunch.com/2009/12/14/rockyou-hack-security-myspace-facebook-passwords/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“LastPass Breach Timeline 2022: What We Know Now.” Accessed: Jun. 17, 2025. [Online]. Available: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https://www.uptycs.com/blog/lastpass-security-breaches-2022-what-we-know-now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Verizon, "2024 Data Breach Investigations Report," Verizon Business, May 2024. [Online]. Available: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https://www.verizon.com/business/resources/reports/dbir/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NordPass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"Top 200 Most Common Passwords of 2023,"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NordPass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Research, Nov. 2023. [Online]. Available: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https://nordpass.com/most-common-passwords-list/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 F. Aziz and M. R. Baker, “Enhancing Multi-Class Password Strength Prediction Through Machine Learning and Ensemble Techniques,” </a:t>
            </a:r>
            <a:r>
              <a:rPr lang="en-US" sz="14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International Journal of Safety and Security Engineering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14, no. 5, pp. 1635–1645, Oct. 2024,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10.18280/IJSSE.140530.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N. Wasif, </a:t>
            </a:r>
            <a:r>
              <a:rPr lang="en-US" sz="14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in Password Security: Predicting and Preventing Credential-Based Attacks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2022.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10.13140/RG.2.2.18787.67363.</a:t>
            </a:r>
          </a:p>
          <a:p>
            <a:pPr marR="0" lvl="0" algn="just">
              <a:lnSpc>
                <a:spcPct val="150000"/>
              </a:lnSpc>
              <a:spcAft>
                <a:spcPts val="800"/>
              </a:spcAft>
            </a:pP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676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BB0C0-6EFF-7868-D2D4-AB031DF0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FC49DB-713F-90DE-CF40-74CE597F1A8F}"/>
              </a:ext>
            </a:extLst>
          </p:cNvPr>
          <p:cNvSpPr>
            <a:spLocks noGrp="1"/>
          </p:cNvSpPr>
          <p:nvPr/>
        </p:nvSpPr>
        <p:spPr>
          <a:xfrm>
            <a:off x="2197101" y="735283"/>
            <a:ext cx="4978399" cy="31650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E06A6-32F0-E216-E552-5092084B04C3}"/>
              </a:ext>
            </a:extLst>
          </p:cNvPr>
          <p:cNvSpPr txBox="1"/>
          <p:nvPr/>
        </p:nvSpPr>
        <p:spPr>
          <a:xfrm>
            <a:off x="2197101" y="4078423"/>
            <a:ext cx="4978399" cy="2058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Queries??</a:t>
            </a:r>
          </a:p>
        </p:txBody>
      </p:sp>
      <p:pic>
        <p:nvPicPr>
          <p:cNvPr id="8" name="Graphic 7" descr="Help">
            <a:extLst>
              <a:ext uri="{FF2B5EF4-FFF2-40B4-BE49-F238E27FC236}">
                <a16:creationId xmlns:a16="http://schemas.microsoft.com/office/drawing/2014/main" id="{64920997-B2D2-DDA1-8581-93002A0ED5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F9859B00-3C03-416A-92BF-A5FEF6311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8BA804-234C-C388-6A47-C4BA4A9C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BAFADD9-C1C7-4253-A759-295861590AA1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12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1957</Words>
  <Application>Microsoft Office PowerPoint</Application>
  <PresentationFormat>Widescreen</PresentationFormat>
  <Paragraphs>273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Aptos Display</vt:lpstr>
      <vt:lpstr>Arial</vt:lpstr>
      <vt:lpstr>Arial,Sans-Serif</vt:lpstr>
      <vt:lpstr>Courier New</vt:lpstr>
      <vt:lpstr>gg sans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Sushant Khanal</dc:creator>
  <cp:lastModifiedBy>Sushant Khanal</cp:lastModifiedBy>
  <cp:revision>1</cp:revision>
  <dcterms:created xsi:type="dcterms:W3CDTF">2025-06-21T09:50:25Z</dcterms:created>
  <dcterms:modified xsi:type="dcterms:W3CDTF">2026-05-06T03:02:02Z</dcterms:modified>
</cp:coreProperties>
</file>